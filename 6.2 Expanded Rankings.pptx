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Good morning. I'm Li Long. This is a ~10-minute briefing on AI programming: where coding models stand in July 2026, how we can use them effectively on the team, and what I recommend we watch next. I'll keep it practical and leave time for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(~3 min) Ranking: primarily vals.ai independent SWE-bench Verified (~Jul 25, 2026); starred names use BenchLM when vals.ai has no listing. Claude Opus 5 ~97%, GPT-5.6 Sol 96.2%, Mythos/Fable ~95%, Kimi K3 93.4%, GPT-5.6 Luna 93%, GPT-5.5 82.6%, DeepSeek V4 Pro ~80.6%, Gemini 3.1 Pro 78.8%. Left-table models all appear on the right chart. Best model depends on the job - backend bugs vs UI (Kimi strong on frontend arena).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(~3.5 min) Two habits I recommend we institutionalize. First, a Skill library: when a prompt works, capture it as SKILL.md — task, best prompt, context files, and how we validate. Second, stop 'vibe coding' for anything that will live in production: name a design pattern so the model designs for change. Simple payment example: Strategy pattern vs a hardcoded credit-card function. This keeps AI output reviewable and maintainable for the team.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(~2.5 min) Looking ahead: agents will take longer coding threads; multimodal inputs (UI + logs) will be normal; quality still depends on our tests and review. As a new member, my plan is practical: write clearer briefs, measure where AI actually helps, never outsource architecture or risk judgment, and contribute Skills back to the team. Happy to align this with how you want the team to adopt AI tooling.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(~0.5 min + Q&amp;A) Thanks for the time. I'm happy to go deeper on the benchmark, draft a first Skill template for the team, or help trial one model on a real ticket.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slideLayout" Target="../slideLayouts/slideLayout1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image" Target="../media/image13.svg"/><Relationship Id="rId12" Type="http://schemas.openxmlformats.org/officeDocument/2006/relationships/slideLayout" Target="../slideLayouts/slideLayout12.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16.png"/><Relationship Id="rId5" Type="http://schemas.openxmlformats.org/officeDocument/2006/relationships/image" Target="../media/image17.svg"/><Relationship Id="rId6" Type="http://schemas.openxmlformats.org/officeDocument/2006/relationships/image" Target="../media/image18.png"/><Relationship Id="rId7" Type="http://schemas.openxmlformats.org/officeDocument/2006/relationships/image" Target="../media/image19.svg"/><Relationship Id="rId8" Type="http://schemas.openxmlformats.org/officeDocument/2006/relationships/image" Target="../media/image20.png"/><Relationship Id="rId9" Type="http://schemas.openxmlformats.org/officeDocument/2006/relationships/image" Target="../media/image21.svg"/><Relationship Id="rId10" Type="http://schemas.openxmlformats.org/officeDocument/2006/relationships/image" Target="../media/image22.png"/><Relationship Id="rId11" Type="http://schemas.openxmlformats.org/officeDocument/2006/relationships/image" Target="../media/image23.svg"/><Relationship Id="rId12" Type="http://schemas.openxmlformats.org/officeDocument/2006/relationships/image" Target="../media/image24.png"/><Relationship Id="rId13" Type="http://schemas.openxmlformats.org/officeDocument/2006/relationships/image" Target="../media/image25.svg"/><Relationship Id="rId14" Type="http://schemas.openxmlformats.org/officeDocument/2006/relationships/image" Target="../media/image26.png"/><Relationship Id="rId15" Type="http://schemas.openxmlformats.org/officeDocument/2006/relationships/image" Target="../media/image27.svg"/><Relationship Id="rId16" Type="http://schemas.openxmlformats.org/officeDocument/2006/relationships/slideLayout" Target="../slideLayouts/slideLayout12.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1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3048000"/>
            <a:ext cx="1016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1F2329"/>
                </a:solidFill>
                <a:latin typeface="Arial" panose="020B0604020202020204"/>
                <a:ea typeface="Arial" panose="020B0604020202020204"/>
                <a:cs typeface="Arial" panose="020B0604020202020204"/>
                <a:sym typeface="Arial" panose="020B0604020202020204"/>
              </a:rPr>
              <a:t>AI Programming Monthly Briefing</a:t>
            </a:r>
            <a:endParaRPr lang="en-US" sz="1100"/>
          </a:p>
        </p:txBody>
      </p:sp>
      <p:sp>
        <p:nvSpPr>
          <p:cNvPr id="4" name="AutoShape 4"/>
          <p:cNvSpPr/>
          <p:nvPr/>
        </p:nvSpPr>
        <p:spPr>
          <a:xfrm>
            <a:off x="1016000" y="4318000"/>
            <a:ext cx="1016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0" i="0" u="none" strike="noStrike">
                <a:solidFill>
                  <a:srgbClr val="00704A"/>
                </a:solidFill>
                <a:latin typeface="Arial" panose="020B0604020202020204"/>
                <a:ea typeface="Arial" panose="020B0604020202020204"/>
                <a:cs typeface="Arial" panose="020B0604020202020204"/>
                <a:sym typeface="Arial" panose="020B0604020202020204"/>
              </a:rPr>
              <a:t>July 2026</a:t>
            </a:r>
            <a:endParaRPr lang="en-US" sz="1100"/>
          </a:p>
        </p:txBody>
      </p:sp>
      <p:sp>
        <p:nvSpPr>
          <p:cNvPr id="5" name="AutoShape 5"/>
          <p:cNvSpPr/>
          <p:nvPr/>
        </p:nvSpPr>
        <p:spPr>
          <a:xfrm>
            <a:off x="1016000" y="5334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sz="1800" b="0">
                <a:solidFill>
                  <a:srgbClr val="333333"/>
                </a:solidFill>
              </a:rPr>
              <a:t>Prepared by: Li Long  |  New Team Member</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704A"/>
                </a:solidFill>
                <a:latin typeface="Noto Sans SC" panose="020B0200000000000000" charset="-122"/>
                <a:ea typeface="Noto Sans SC" panose="020B0200000000000000" charset="-122"/>
                <a:cs typeface="Noto Sans SC" panose="020B0200000000000000" charset="-122"/>
                <a:sym typeface="Noto Sans SC" panose="020B0200000000000000" charset="-122"/>
              </a:rPr>
              <a:t>AI Coding Models: Where We Stand (July 2026)</a:t>
            </a:r>
            <a:endParaRPr lang="en-US" sz="1100"/>
          </a:p>
        </p:txBody>
      </p:sp>
      <p:graphicFrame>
        <p:nvGraphicFramePr>
          <p:cNvPr id="4" name="Table 4"/>
          <p:cNvGraphicFramePr>
            <a:graphicFrameLocks noGrp="1"/>
          </p:cNvGraphicFramePr>
          <p:nvPr/>
        </p:nvGraphicFramePr>
        <p:xfrm>
          <a:off x="1016000" y="1905000"/>
          <a:ext cx="6096000" cy="3810000"/>
        </p:xfrm>
        <a:graphic>
          <a:graphicData uri="http://schemas.openxmlformats.org/drawingml/2006/table">
            <a:tbl>
              <a:tblPr>
                <a:effectLst/>
              </a:tblPr>
              <a:tblGrid>
                <a:gridCol w="1524000"/>
                <a:gridCol w="2286000"/>
                <a:gridCol w="2286000"/>
              </a:tblGrid>
              <a:tr h="762000">
                <a:tc>
                  <a:txBody>
                    <a:bodyPr rtlCol="0"/>
                    <a:lstStyle/>
                    <a:p>
                      <a:r>
                        <a:rPr sz="1200" b="1">
                          <a:solidFill>
                            <a:srgbClr val="222222"/>
                          </a:solidFill>
                          <a:latin typeface="Arial"/>
                        </a:rPr>
                        <a:t>Focus</a:t>
                      </a:r>
                    </a:p>
                  </a:txBody>
                  <a:tcPr marL="101600" marR="101600" marT="101600" marB="101600" anchor="t" anchorCtr="0">
                    <a:lnL>
                      <a:noFill/>
                    </a:lnL>
                    <a:lnR>
                      <a:noFill/>
                    </a:lnR>
                    <a:lnT>
                      <a:noFill/>
                    </a:lnT>
                    <a:lnB w="25400" cap="flat" cmpd="sng" algn="ctr">
                      <a:solidFill>
                        <a:srgbClr val="00704A"/>
                      </a:solidFill>
                      <a:prstDash val="solid"/>
                      <a:round/>
                      <a:headEnd type="none" w="med" len="med"/>
                      <a:tailEnd type="none" w="med" len="med"/>
                    </a:lnB>
                    <a:solidFill>
                      <a:srgbClr val="00704A">
                        <a:alpha val="10000"/>
                      </a:srgbClr>
                    </a:solidFill>
                  </a:tcPr>
                </a:tc>
                <a:tc>
                  <a:txBody>
                    <a:bodyPr rtlCol="0"/>
                    <a:lstStyle/>
                    <a:p>
                      <a:r>
                        <a:rPr sz="1200" b="1">
                          <a:solidFill>
                            <a:srgbClr val="222222"/>
                          </a:solidFill>
                          <a:latin typeface="Arial"/>
                        </a:rPr>
                        <a:t>About 1 year ago</a:t>
                      </a:r>
                    </a:p>
                  </a:txBody>
                  <a:tcPr marL="101600" marR="101600" marT="101600" marB="101600" anchor="t" anchorCtr="0">
                    <a:lnL>
                      <a:noFill/>
                    </a:lnL>
                    <a:lnR>
                      <a:noFill/>
                    </a:lnR>
                    <a:lnT>
                      <a:noFill/>
                    </a:lnT>
                    <a:lnB w="25400" cap="flat" cmpd="sng" algn="ctr">
                      <a:solidFill>
                        <a:srgbClr val="00704A"/>
                      </a:solidFill>
                      <a:prstDash val="solid"/>
                      <a:round/>
                      <a:headEnd type="none" w="med" len="med"/>
                      <a:tailEnd type="none" w="med" len="med"/>
                    </a:lnB>
                    <a:solidFill>
                      <a:srgbClr val="00704A">
                        <a:alpha val="10000"/>
                      </a:srgbClr>
                    </a:solidFill>
                  </a:tcPr>
                </a:tc>
                <a:tc>
                  <a:txBody>
                    <a:bodyPr rtlCol="0"/>
                    <a:lstStyle/>
                    <a:p>
                      <a:r>
                        <a:rPr sz="1200" b="1">
                          <a:solidFill>
                            <a:srgbClr val="222222"/>
                          </a:solidFill>
                          <a:latin typeface="Arial"/>
                        </a:rPr>
                        <a:t>July 2026 (now)</a:t>
                      </a:r>
                    </a:p>
                  </a:txBody>
                  <a:tcPr marL="101600" marR="101600" marT="101600" marB="101600" anchor="t" anchorCtr="0">
                    <a:lnL>
                      <a:noFill/>
                    </a:lnL>
                    <a:lnR>
                      <a:noFill/>
                    </a:lnR>
                    <a:lnT>
                      <a:noFill/>
                    </a:lnT>
                    <a:lnB w="25400" cap="flat" cmpd="sng" algn="ctr">
                      <a:solidFill>
                        <a:srgbClr val="00704A"/>
                      </a:solidFill>
                      <a:prstDash val="solid"/>
                      <a:round/>
                      <a:headEnd type="none" w="med" len="med"/>
                      <a:tailEnd type="none" w="med" len="med"/>
                    </a:lnB>
                    <a:solidFill>
                      <a:srgbClr val="00704A">
                        <a:alpha val="10000"/>
                      </a:srgbClr>
                    </a:solidFill>
                  </a:tcPr>
                </a:tc>
              </a:tr>
              <a:tr h="1016000">
                <a:tc>
                  <a:txBody>
                    <a:bodyPr rtlCol="0"/>
                    <a:lstStyle/>
                    <a:p>
                      <a:r>
                        <a:rPr sz="1100" b="1">
                          <a:solidFill>
                            <a:srgbClr val="222222"/>
                          </a:solidFill>
                          <a:latin typeface="Arial"/>
                        </a:rPr>
                        <a:t>Role in the team</a:t>
                      </a:r>
                    </a:p>
                  </a:txBody>
                  <a:tcPr marL="101600" marR="101600" marT="101600" marB="101600" anchor="t" anchorCtr="0">
                    <a:lnL>
                      <a:noFill/>
                    </a:lnL>
                    <a:lnR>
                      <a:noFill/>
                    </a:lnR>
                    <a:lnT w="25400" cap="flat" cmpd="sng" algn="ctr">
                      <a:solidFill>
                        <a:srgbClr val="00704A"/>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c>
                  <a:txBody>
                    <a:bodyPr rtlCol="0"/>
                    <a:lstStyle/>
                    <a:p>
                      <a:r>
                        <a:rPr sz="1000" b="0">
                          <a:solidFill>
                            <a:srgbClr val="222222"/>
                          </a:solidFill>
                          <a:latin typeface="Arial"/>
                        </a:rPr>
                        <a:t>Helpful intern: good at snippets; needed step-by-step prompts.</a:t>
                      </a:r>
                    </a:p>
                  </a:txBody>
                  <a:tcPr marL="101600" marR="101600" marT="101600" marB="101600" anchor="t" anchorCtr="0">
                    <a:lnL>
                      <a:noFill/>
                    </a:lnL>
                    <a:lnR>
                      <a:noFill/>
                    </a:lnR>
                    <a:lnT w="25400" cap="flat" cmpd="sng" algn="ctr">
                      <a:solidFill>
                        <a:srgbClr val="00704A"/>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c>
                  <a:txBody>
                    <a:bodyPr rtlCol="0"/>
                    <a:lstStyle/>
                    <a:p>
                      <a:r>
                        <a:rPr sz="1000" b="0">
                          <a:solidFill>
                            <a:srgbClr val="222222"/>
                          </a:solidFill>
                          <a:latin typeface="Arial"/>
                        </a:rPr>
                        <a:t>Senior pair-programmer: takes goals, plans, and patches across a repo.</a:t>
                      </a:r>
                    </a:p>
                  </a:txBody>
                  <a:tcPr marL="101600" marR="101600" marT="101600" marB="101600" anchor="t" anchorCtr="0">
                    <a:lnL>
                      <a:noFill/>
                    </a:lnL>
                    <a:lnR>
                      <a:noFill/>
                    </a:lnR>
                    <a:lnT w="25400" cap="flat" cmpd="sng" algn="ctr">
                      <a:solidFill>
                        <a:srgbClr val="00704A"/>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r>
              <a:tr h="1016000">
                <a:tc>
                  <a:txBody>
                    <a:bodyPr rtlCol="0"/>
                    <a:lstStyle/>
                    <a:p>
                      <a:r>
                        <a:rPr sz="1100" b="1">
                          <a:solidFill>
                            <a:srgbClr val="222222"/>
                          </a:solidFill>
                          <a:latin typeface="Arial"/>
                        </a:rPr>
                        <a:t>Frontier leaders</a:t>
                      </a:r>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c>
                  <a:txBody>
                    <a:bodyPr rtlCol="0"/>
                    <a:lstStyle/>
                    <a:p>
                      <a:r>
                        <a:rPr sz="1000" b="0">
                          <a:solidFill>
                            <a:srgbClr val="222222"/>
                          </a:solidFill>
                          <a:latin typeface="Arial"/>
                        </a:rPr>
                        <a:t>GPT-4o / Claude 3.5 era - strong chat, weaker on full GitHub issues.</a:t>
                      </a:r>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c>
                  <a:txBody>
                    <a:bodyPr rtlCol="0"/>
                    <a:lstStyle/>
                    <a:p>
                      <a:r>
                        <a:rPr sz="1000" b="0">
                          <a:solidFill>
                            <a:srgbClr val="222222"/>
                          </a:solidFill>
                          <a:latin typeface="Arial"/>
                        </a:rPr>
                        <a:t>Claude Opus 5 / Mythos 5 / Fable 5 and GPT-5.6 Sol lead (~95-97%).</a:t>
                      </a:r>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r>
              <a:tr h="1016000">
                <a:tc>
                  <a:txBody>
                    <a:bodyPr rtlCol="0"/>
                    <a:lstStyle/>
                    <a:p>
                      <a:r>
                        <a:rPr sz="1100" b="1">
                          <a:solidFill>
                            <a:srgbClr val="222222"/>
                          </a:solidFill>
                          <a:latin typeface="Arial"/>
                        </a:rPr>
                        <a:t>Open &amp; value tier</a:t>
                      </a:r>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a:noFill/>
                    </a:lnB>
                    <a:noFill/>
                  </a:tcPr>
                </a:tc>
                <a:tc>
                  <a:txBody>
                    <a:bodyPr rtlCol="0"/>
                    <a:lstStyle/>
                    <a:p>
                      <a:r>
                        <a:rPr sz="1000" b="0">
                          <a:solidFill>
                            <a:srgbClr val="222222"/>
                          </a:solidFill>
                          <a:latin typeface="Arial"/>
                        </a:rPr>
                        <a:t>Open models clearly behind closed frontier on hard coding tasks.</a:t>
                      </a:r>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a:noFill/>
                    </a:lnB>
                    <a:noFill/>
                  </a:tcPr>
                </a:tc>
                <a:tc>
                  <a:txBody>
                    <a:bodyPr rtlCol="0"/>
                    <a:lstStyle/>
                    <a:p>
                      <a:r>
                        <a:rPr sz="1000" b="0">
                          <a:solidFill>
                            <a:srgbClr val="222222"/>
                          </a:solidFill>
                          <a:latin typeface="Arial"/>
                        </a:rPr>
                        <a:t>Kimi K3 ~93%; DeepSeek V4 Pro ~81%; Gemini 3.1 Pro ~79% (vals.ai).</a:t>
                      </a:r>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a:noFill/>
                    </a:lnB>
                    <a:noFill/>
                  </a:tcPr>
                </a:tc>
              </a:tr>
            </a:tbl>
          </a:graphicData>
        </a:graphic>
      </p:graphicFrame>
      <p:sp>
        <p:nvSpPr>
          <p:cNvPr id="5" name="AutoShape 5"/>
          <p:cNvSpPr/>
          <p:nvPr/>
        </p:nvSpPr>
        <p:spPr>
          <a:xfrm>
            <a:off x="1016000" y="5778500"/>
            <a:ext cx="609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sz="1300" b="1">
                <a:solidFill>
                  <a:srgbClr val="1A1A1A"/>
                </a:solidFill>
              </a:rPr>
              <a:t>Takeaway: </a:t>
            </a:r>
            <a:r>
              <a:rPr sz="1100" b="0">
                <a:solidFill>
                  <a:srgbClr val="333333"/>
                </a:solidFill>
              </a:rPr>
              <a:t>Top tier is crowded (Opus 5, GPT-5.6 Sol, Fable/Mythos 5). Pick by task - and always brief with goals + review criteria.</a:t>
            </a:r>
            <a:endParaRPr lang="en-US" sz="1100"/>
          </a:p>
        </p:txBody>
      </p:sp>
      <p:pic>
        <p:nvPicPr>
          <p:cNvPr id="6" name="Picture 6"/>
          <p:cNvPicPr>
            <a:picLocks noChangeAspect="1"/>
          </p:cNvPicPr>
          <p:nvPr/>
        </p:nvPicPr>
        <p:blipFill>
          <a:blip r:embed="rId2"/>
          <a:srcRect t="169" b="169"/>
          <a:stretch>
            <a:fillRect/>
          </a:stretch>
        </p:blipFill>
        <p:spPr>
          <a:xfrm>
            <a:off x="7452360" y="1554480"/>
            <a:ext cx="4434840" cy="4754880"/>
          </a:xfrm>
          <a:prstGeom prst="rect">
            <a:avLst/>
          </a:prstGeom>
          <a:noFill/>
          <a:ln w="25400" cap="flat" cmpd="sng">
            <a:noFill/>
            <a:prstDash val="solid"/>
            <a:rou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704A"/>
                </a:solidFill>
                <a:latin typeface="Noto Sans SC" panose="020B0200000000000000" charset="-122"/>
                <a:ea typeface="Noto Sans SC" panose="020B0200000000000000" charset="-122"/>
                <a:cs typeface="Noto Sans SC" panose="020B0200000000000000" charset="-122"/>
                <a:sym typeface="Noto Sans SC" panose="020B0200000000000000" charset="-122"/>
              </a:rPr>
              <a:t>Two Practices That Make AI Useful at Work</a:t>
            </a:r>
            <a:endParaRPr lang="en-US" sz="1100"/>
          </a:p>
        </p:txBody>
      </p:sp>
      <p:sp>
        <p:nvSpPr>
          <p:cNvPr id="4" name="AutoShape 4"/>
          <p:cNvSpPr/>
          <p:nvPr/>
        </p:nvSpPr>
        <p:spPr>
          <a:xfrm>
            <a:off x="762000" y="1714500"/>
            <a:ext cx="5270500" cy="4191000"/>
          </a:xfrm>
          <a:prstGeom prst="roundRect">
            <a:avLst>
              <a:gd name="adj" fmla="val 0"/>
            </a:avLst>
          </a:prstGeom>
          <a:solidFill>
            <a:srgbClr val="FFFFFF">
              <a:alpha val="75000"/>
            </a:srgbClr>
          </a:solidFill>
          <a:ln w="12700" cap="flat" cmpd="sng">
            <a:solidFill>
              <a:srgbClr val="00704A">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685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04A"/>
                </a:solidFill>
                <a:latin typeface="Noto Sans SC" panose="020B0200000000000000" charset="-122"/>
                <a:ea typeface="Noto Sans SC" panose="020B0200000000000000" charset="-122"/>
                <a:cs typeface="Noto Sans SC" panose="020B0200000000000000" charset="-122"/>
                <a:sym typeface="Noto Sans SC" panose="020B0200000000000000" charset="-122"/>
              </a:rPr>
              <a:t>1. Build a reusable Skill library</a:t>
            </a:r>
            <a:endParaRPr lang="en-US" sz="1100"/>
          </a:p>
        </p:txBody>
      </p:sp>
      <p:cxnSp>
        <p:nvCxnSpPr>
          <p:cNvPr id="6" name="Connector 6"/>
          <p:cNvCxnSpPr/>
          <p:nvPr/>
        </p:nvCxnSpPr>
        <p:spPr>
          <a:xfrm rot="-9167">
            <a:off x="1016008" y="2533650"/>
            <a:ext cx="4762500" cy="12700"/>
          </a:xfrm>
          <a:prstGeom prst="line">
            <a:avLst/>
          </a:prstGeom>
          <a:solidFill>
            <a:srgbClr val="DEE0E3">
              <a:alpha val="100000"/>
            </a:srgbClr>
          </a:solidFill>
          <a:ln w="12700" cap="flat" cmpd="sng">
            <a:solidFill>
              <a:srgbClr val="00704A">
                <a:alpha val="20000"/>
              </a:srgbClr>
            </a:solidFill>
            <a:prstDash val="solid"/>
            <a:round/>
            <a:headEnd type="none" w="med" len="med"/>
            <a:tailEnd type="none" w="med" len="med"/>
          </a:ln>
        </p:spPr>
      </p:cxnSp>
      <p:sp>
        <p:nvSpPr>
          <p:cNvPr id="7" name="AutoShape 7"/>
          <p:cNvSpPr/>
          <p:nvPr/>
        </p:nvSpPr>
        <p:spPr>
          <a:xfrm>
            <a:off x="1016000" y="2667000"/>
            <a:ext cx="476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sz="1200">
                <a:solidFill>
                  <a:srgbClr val="333333"/>
                </a:solidFill>
              </a:rPr>
              <a:t>Save winning prompts as SKILL.md (task + context + checks). Turn one person's win into the team's default playbook.</a:t>
            </a:r>
            <a:endParaRPr lang="en-US" sz="1100"/>
          </a:p>
        </p:txBody>
      </p:sp>
      <p:sp>
        <p:nvSpPr>
          <p:cNvPr id="8" name="AutoShape 8"/>
          <p:cNvSpPr/>
          <p:nvPr/>
        </p:nvSpPr>
        <p:spPr>
          <a:xfrm>
            <a:off x="1016000" y="3619500"/>
            <a:ext cx="2286000" cy="825500"/>
          </a:xfrm>
          <a:prstGeom prst="roundRect">
            <a:avLst>
              <a:gd name="adj" fmla="val 0"/>
            </a:avLst>
          </a:prstGeom>
          <a:solidFill>
            <a:srgbClr val="00704A">
              <a:alpha val="5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3746500"/>
            <a:ext cx="254000" cy="254000"/>
          </a:xfrm>
          <a:prstGeom prst="rect">
            <a:avLst/>
          </a:prstGeom>
        </p:spPr>
      </p:pic>
      <p:sp>
        <p:nvSpPr>
          <p:cNvPr id="10" name="AutoShape 10"/>
          <p:cNvSpPr/>
          <p:nvPr/>
        </p:nvSpPr>
        <p:spPr>
          <a:xfrm>
            <a:off x="1460500" y="37084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100" b="1"/>
              <a:t>Clear task</a:t>
            </a:r>
            <a:endParaRPr lang="en-US" sz="1100"/>
          </a:p>
          <a:p>
            <a:pPr marL="0" indent="0" algn="l">
              <a:lnSpc>
                <a:spcPct val="100000"/>
              </a:lnSpc>
            </a:pPr>
            <a:r>
              <a:rPr sz="1000" b="0"/>
              <a:t>What to build, and what 'done' means.</a:t>
            </a:r>
            <a:endParaRPr sz="1000" b="0"/>
          </a:p>
        </p:txBody>
      </p:sp>
      <p:sp>
        <p:nvSpPr>
          <p:cNvPr id="11" name="AutoShape 11"/>
          <p:cNvSpPr/>
          <p:nvPr/>
        </p:nvSpPr>
        <p:spPr>
          <a:xfrm>
            <a:off x="3492500" y="3619500"/>
            <a:ext cx="2286000" cy="825500"/>
          </a:xfrm>
          <a:prstGeom prst="roundRect">
            <a:avLst>
              <a:gd name="adj" fmla="val 0"/>
            </a:avLst>
          </a:prstGeom>
          <a:solidFill>
            <a:srgbClr val="00704A">
              <a:alpha val="5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3746500"/>
            <a:ext cx="254000" cy="254000"/>
          </a:xfrm>
          <a:prstGeom prst="rect">
            <a:avLst/>
          </a:prstGeom>
        </p:spPr>
      </p:pic>
      <p:sp>
        <p:nvSpPr>
          <p:cNvPr id="13" name="AutoShape 13"/>
          <p:cNvSpPr/>
          <p:nvPr/>
        </p:nvSpPr>
        <p:spPr>
          <a:xfrm>
            <a:off x="3937000" y="37084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100" b="1"/>
              <a:t>Best prompt</a:t>
            </a:r>
            <a:endParaRPr lang="en-US" sz="1100"/>
          </a:p>
          <a:p>
            <a:pPr marL="0" indent="0" algn="l">
              <a:lnSpc>
                <a:spcPct val="100000"/>
              </a:lnSpc>
            </a:pPr>
            <a:r>
              <a:rPr sz="1000" b="0"/>
              <a:t>Keep the exact wording that worked.</a:t>
            </a:r>
            <a:endParaRPr sz="1000" b="0"/>
          </a:p>
        </p:txBody>
      </p:sp>
      <p:sp>
        <p:nvSpPr>
          <p:cNvPr id="14" name="AutoShape 14"/>
          <p:cNvSpPr/>
          <p:nvPr/>
        </p:nvSpPr>
        <p:spPr>
          <a:xfrm>
            <a:off x="1016000" y="4635500"/>
            <a:ext cx="2286000" cy="825500"/>
          </a:xfrm>
          <a:prstGeom prst="roundRect">
            <a:avLst>
              <a:gd name="adj" fmla="val 0"/>
            </a:avLst>
          </a:prstGeom>
          <a:solidFill>
            <a:srgbClr val="00704A">
              <a:alpha val="5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4762500"/>
            <a:ext cx="254000" cy="254000"/>
          </a:xfrm>
          <a:prstGeom prst="rect">
            <a:avLst/>
          </a:prstGeom>
        </p:spPr>
      </p:pic>
      <p:sp>
        <p:nvSpPr>
          <p:cNvPr id="16" name="AutoShape 16"/>
          <p:cNvSpPr/>
          <p:nvPr/>
        </p:nvSpPr>
        <p:spPr>
          <a:xfrm>
            <a:off x="1460500" y="47244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100" b="1"/>
              <a:t>Project context</a:t>
            </a:r>
            <a:endParaRPr lang="en-US" sz="1100"/>
          </a:p>
          <a:p>
            <a:pPr marL="0" indent="0" algn="l">
              <a:lnSpc>
                <a:spcPct val="100000"/>
              </a:lnSpc>
            </a:pPr>
            <a:r>
              <a:rPr sz="1000" b="0"/>
              <a:t>Attach code, APIs, and constraints.</a:t>
            </a:r>
            <a:endParaRPr sz="1000" b="0"/>
          </a:p>
        </p:txBody>
      </p:sp>
      <p:sp>
        <p:nvSpPr>
          <p:cNvPr id="17" name="AutoShape 17"/>
          <p:cNvSpPr/>
          <p:nvPr/>
        </p:nvSpPr>
        <p:spPr>
          <a:xfrm>
            <a:off x="3492500" y="4635500"/>
            <a:ext cx="2286000" cy="825500"/>
          </a:xfrm>
          <a:prstGeom prst="roundRect">
            <a:avLst>
              <a:gd name="adj" fmla="val 0"/>
            </a:avLst>
          </a:prstGeom>
          <a:solidFill>
            <a:srgbClr val="00704A">
              <a:alpha val="5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9500" y="4762500"/>
            <a:ext cx="254000" cy="254000"/>
          </a:xfrm>
          <a:prstGeom prst="rect">
            <a:avLst/>
          </a:prstGeom>
        </p:spPr>
      </p:pic>
      <p:sp>
        <p:nvSpPr>
          <p:cNvPr id="19" name="AutoShape 19"/>
          <p:cNvSpPr/>
          <p:nvPr/>
        </p:nvSpPr>
        <p:spPr>
          <a:xfrm>
            <a:off x="3937000" y="4724400"/>
            <a:ext cx="184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100" b="1"/>
              <a:t>Validation</a:t>
            </a:r>
            <a:endParaRPr lang="en-US" sz="1100"/>
          </a:p>
          <a:p>
            <a:pPr marL="0" indent="0" algn="l">
              <a:lnSpc>
                <a:spcPct val="100000"/>
              </a:lnSpc>
            </a:pPr>
            <a:r>
              <a:rPr sz="1000" b="0"/>
              <a:t>How we verify: tests, review, demo.</a:t>
            </a:r>
            <a:endParaRPr sz="1000" b="0"/>
          </a:p>
        </p:txBody>
      </p:sp>
      <p:sp>
        <p:nvSpPr>
          <p:cNvPr id="20" name="AutoShape 20"/>
          <p:cNvSpPr/>
          <p:nvPr/>
        </p:nvSpPr>
        <p:spPr>
          <a:xfrm>
            <a:off x="6159500" y="1714500"/>
            <a:ext cx="5270500" cy="4572000"/>
          </a:xfrm>
          <a:prstGeom prst="roundRect">
            <a:avLst>
              <a:gd name="adj" fmla="val 0"/>
            </a:avLst>
          </a:prstGeom>
          <a:solidFill>
            <a:srgbClr val="FFFFFF">
              <a:alpha val="75000"/>
            </a:srgbClr>
          </a:solidFill>
          <a:ln w="12700" cap="flat" cmpd="sng">
            <a:solidFill>
              <a:srgbClr val="00704A">
                <a:alpha val="15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413500" y="1968500"/>
            <a:ext cx="4762500" cy="635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lang="en-US" sz="1400" b="1" i="0" u="none" strike="noStrike">
                <a:solidFill>
                  <a:srgbClr val="00704A"/>
                </a:solidFill>
                <a:latin typeface="Noto Sans SC" panose="020B0200000000000000" charset="-122"/>
                <a:ea typeface="Noto Sans SC" panose="020B0200000000000000" charset="-122"/>
                <a:cs typeface="Noto Sans SC" panose="020B0200000000000000" charset="-122"/>
                <a:sym typeface="Noto Sans SC" panose="020B0200000000000000" charset="-122"/>
              </a:rPr>
              <a:t>2. Guide AI with design patterns (not vibe coding)</a:t>
            </a:r>
            <a:endParaRPr lang="en-US" sz="1100"/>
          </a:p>
        </p:txBody>
      </p:sp>
      <p:cxnSp>
        <p:nvCxnSpPr>
          <p:cNvPr id="22" name="Connector 22"/>
          <p:cNvCxnSpPr/>
          <p:nvPr/>
        </p:nvCxnSpPr>
        <p:spPr>
          <a:xfrm rot="-9167">
            <a:off x="6413508" y="2660650"/>
            <a:ext cx="4762500" cy="12700"/>
          </a:xfrm>
          <a:prstGeom prst="line">
            <a:avLst/>
          </a:prstGeom>
          <a:solidFill>
            <a:srgbClr val="DEE0E3">
              <a:alpha val="100000"/>
            </a:srgbClr>
          </a:solidFill>
          <a:ln w="12700" cap="flat" cmpd="sng">
            <a:solidFill>
              <a:srgbClr val="00704A">
                <a:alpha val="20000"/>
              </a:srgbClr>
            </a:solidFill>
            <a:prstDash val="solid"/>
            <a:round/>
            <a:headEnd type="none" w="med" len="med"/>
            <a:tailEnd type="none" w="med" len="med"/>
          </a:ln>
        </p:spPr>
      </p:cxnSp>
      <p:sp>
        <p:nvSpPr>
          <p:cNvPr id="23" name="AutoShape 23"/>
          <p:cNvSpPr/>
          <p:nvPr/>
        </p:nvSpPr>
        <p:spPr>
          <a:xfrm>
            <a:off x="6413500" y="2794000"/>
            <a:ext cx="476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100">
                <a:solidFill>
                  <a:srgbClr val="333333"/>
                </a:solidFill>
              </a:rPr>
              <a:t>Ask for a pattern up front. AI then produces code we can extend — not a one-off script that breaks on the next change.</a:t>
            </a:r>
            <a:endParaRPr lang="en-US" sz="1100"/>
          </a:p>
        </p:txBody>
      </p:sp>
      <p:sp>
        <p:nvSpPr>
          <p:cNvPr id="24" name="AutoShape 24"/>
          <p:cNvSpPr/>
          <p:nvPr/>
        </p:nvSpPr>
        <p:spPr>
          <a:xfrm>
            <a:off x="6413500" y="3429000"/>
            <a:ext cx="4762500" cy="635000"/>
          </a:xfrm>
          <a:prstGeom prst="roundRect">
            <a:avLst>
              <a:gd name="adj" fmla="val 0"/>
            </a:avLst>
          </a:prstGeom>
          <a:solidFill>
            <a:srgbClr val="00704A">
              <a:alpha val="8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3619500"/>
            <a:ext cx="254000" cy="254000"/>
          </a:xfrm>
          <a:prstGeom prst="rect">
            <a:avLst/>
          </a:prstGeom>
        </p:spPr>
      </p:pic>
      <p:sp>
        <p:nvSpPr>
          <p:cNvPr id="26" name="AutoShape 26"/>
          <p:cNvSpPr/>
          <p:nvPr/>
        </p:nvSpPr>
        <p:spPr>
          <a:xfrm>
            <a:off x="6921500" y="3492500"/>
            <a:ext cx="4191000" cy="508000"/>
          </a:xfrm>
          <a:prstGeom prst="rect">
            <a:avLst/>
          </a:prstGeom>
          <a:noFill/>
          <a:ln w="12700" cap="flat" cmpd="sng">
            <a:noFill/>
            <a:prstDash val="solid"/>
            <a:round/>
          </a:ln>
        </p:spPr>
        <p:txBody>
          <a:bodyPr vert="horz" wrap="square" lIns="0" tIns="0" rIns="0" bIns="0" rtlCol="0" anchor="ctr" anchorCtr="0"/>
          <a:lstStyle/>
          <a:p>
            <a:pPr marL="0" indent="0" algn="l">
              <a:lnSpc>
                <a:spcPct val="92000"/>
              </a:lnSpc>
              <a:defRPr/>
            </a:pPr>
            <a:r>
              <a:rPr sz="1100" b="1"/>
              <a:t>Key: </a:t>
            </a:r>
            <a:r>
              <a:rPr sz="1100" b="0"/>
              <a:t>Name the pattern + interfaces. Example: Strategy for payments.</a:t>
            </a:r>
            <a:endParaRPr lang="en-US" sz="1100"/>
          </a:p>
        </p:txBody>
      </p:sp>
      <p:sp>
        <p:nvSpPr>
          <p:cNvPr id="27" name="AutoShape 27"/>
          <p:cNvSpPr/>
          <p:nvPr/>
        </p:nvSpPr>
        <p:spPr>
          <a:xfrm>
            <a:off x="6413500" y="4069080"/>
            <a:ext cx="4762500" cy="86868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000" b="1">
                <a:solidFill>
                  <a:srgbClr val="A03030"/>
                </a:solidFill>
              </a:rPr>
              <a:t>Weak: </a:t>
            </a:r>
            <a:r>
              <a:rPr sz="1000" b="0">
                <a:solidFill>
                  <a:srgbClr val="333333"/>
                </a:solidFill>
              </a:rPr>
              <a:t>"Write credit-card payment code." -&gt; rigid, hard to extend.</a:t>
            </a:r>
            <a:endParaRPr lang="en-US" sz="1100"/>
          </a:p>
          <a:p>
            <a:r>
              <a:rPr sz="1000" b="1">
                <a:solidFill>
                  <a:srgbClr val="1B6B3A"/>
                </a:solidFill>
              </a:rPr>
              <a:t>Better: </a:t>
            </a:r>
            <a:r>
              <a:rPr sz="1000" b="0">
                <a:solidFill>
                  <a:srgbClr val="333333"/>
                </a:solidFill>
              </a:rPr>
              <a:t>"Implement payments with Strategy (interface + card/PayPal classes)."</a:t>
            </a:r>
            <a:endParaRPr sz="1000" b="0">
              <a:solidFill>
                <a:srgbClr val="333333"/>
              </a:solidFill>
            </a:endParaRPr>
          </a:p>
        </p:txBody>
      </p:sp>
      <p:sp>
        <p:nvSpPr>
          <p:cNvPr id="28" name="AutoShape 28"/>
          <p:cNvSpPr/>
          <p:nvPr/>
        </p:nvSpPr>
        <p:spPr>
          <a:xfrm>
            <a:off x="6413500" y="4983480"/>
            <a:ext cx="4762500" cy="658368"/>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sz="1000" b="1"/>
              <a:t>Result: </a:t>
            </a:r>
            <a:r>
              <a:rPr sz="1000"/>
              <a:t>New payment methods plug in without rewriting existing code — easier review and safer changes.</a:t>
            </a:r>
            <a:endParaRPr lang="en-US" sz="1100"/>
          </a:p>
        </p:txBody>
      </p:sp>
      <p:sp>
        <p:nvSpPr>
          <p:cNvPr id="29" name="AutoShape 29"/>
          <p:cNvSpPr/>
          <p:nvPr/>
        </p:nvSpPr>
        <p:spPr>
          <a:xfrm>
            <a:off x="6413500" y="5687568"/>
            <a:ext cx="4762500" cy="50292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000" b="1"/>
              <a:t>Checklist: </a:t>
            </a:r>
            <a:r>
              <a:rPr sz="1000"/>
              <a:t>inputs/outputs | quality rules | project context | who reviews.</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704A"/>
                </a:solidFill>
                <a:latin typeface="Noto Sans SC" panose="020B0200000000000000" charset="-122"/>
                <a:ea typeface="Noto Sans SC" panose="020B0200000000000000" charset="-122"/>
                <a:cs typeface="Noto Sans SC" panose="020B0200000000000000" charset="-122"/>
                <a:sym typeface="Noto Sans SC" panose="020B0200000000000000" charset="-122"/>
              </a:rPr>
              <a:t>Outlook &amp; Recommendations</a:t>
            </a:r>
            <a:endParaRPr lang="en-US" sz="1100"/>
          </a:p>
        </p:txBody>
      </p:sp>
      <p:sp>
        <p:nvSpPr>
          <p:cNvPr id="4" name="AutoShape 4"/>
          <p:cNvSpPr/>
          <p:nvPr/>
        </p:nvSpPr>
        <p:spPr>
          <a:xfrm>
            <a:off x="762000" y="1778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04A"/>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is coming next</a:t>
            </a:r>
            <a:endParaRPr lang="en-US" sz="1100"/>
          </a:p>
        </p:txBody>
      </p:sp>
      <p:sp>
        <p:nvSpPr>
          <p:cNvPr id="5" name="AutoShape 5"/>
          <p:cNvSpPr/>
          <p:nvPr/>
        </p:nvSpPr>
        <p:spPr>
          <a:xfrm>
            <a:off x="762000" y="2540000"/>
            <a:ext cx="5207000" cy="1206500"/>
          </a:xfrm>
          <a:prstGeom prst="roundRect">
            <a:avLst>
              <a:gd name="adj" fmla="val 0"/>
            </a:avLst>
          </a:prstGeom>
          <a:solidFill>
            <a:srgbClr val="00704A">
              <a:alpha val="7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730500"/>
            <a:ext cx="355600" cy="355600"/>
          </a:xfrm>
          <a:prstGeom prst="rect">
            <a:avLst/>
          </a:prstGeom>
        </p:spPr>
      </p:pic>
      <p:sp>
        <p:nvSpPr>
          <p:cNvPr id="7" name="AutoShape 7"/>
          <p:cNvSpPr/>
          <p:nvPr/>
        </p:nvSpPr>
        <p:spPr>
          <a:xfrm>
            <a:off x="1460500" y="2667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300" b="1"/>
              <a:t>Autonomous agents</a:t>
            </a:r>
            <a:endParaRPr lang="en-US" sz="1100"/>
          </a:p>
          <a:p>
            <a:pPr marL="0" indent="0" algn="l">
              <a:lnSpc>
                <a:spcPct val="108000"/>
              </a:lnSpc>
            </a:pPr>
            <a:r>
              <a:rPr sz="1100" b="0"/>
              <a:t>Multi-step coding agents that open PRs with less hand-holding.</a:t>
            </a:r>
            <a:endParaRPr sz="1100" b="0"/>
          </a:p>
        </p:txBody>
      </p:sp>
      <p:sp>
        <p:nvSpPr>
          <p:cNvPr id="8" name="AutoShape 8"/>
          <p:cNvSpPr/>
          <p:nvPr/>
        </p:nvSpPr>
        <p:spPr>
          <a:xfrm>
            <a:off x="762000" y="3810000"/>
            <a:ext cx="5207000" cy="1206500"/>
          </a:xfrm>
          <a:prstGeom prst="roundRect">
            <a:avLst>
              <a:gd name="adj" fmla="val 0"/>
            </a:avLst>
          </a:prstGeom>
          <a:solidFill>
            <a:srgbClr val="00704A">
              <a:alpha val="7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000500"/>
            <a:ext cx="355600" cy="355600"/>
          </a:xfrm>
          <a:prstGeom prst="rect">
            <a:avLst/>
          </a:prstGeom>
        </p:spPr>
      </p:pic>
      <p:sp>
        <p:nvSpPr>
          <p:cNvPr id="10" name="AutoShape 10"/>
          <p:cNvSpPr/>
          <p:nvPr/>
        </p:nvSpPr>
        <p:spPr>
          <a:xfrm>
            <a:off x="1460500" y="3937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300" b="1"/>
              <a:t>Multimodal workflows</a:t>
            </a:r>
            <a:endParaRPr lang="en-US" sz="1100"/>
          </a:p>
          <a:p>
            <a:pPr marL="0" indent="0" algn="l">
              <a:lnSpc>
                <a:spcPct val="108000"/>
              </a:lnSpc>
            </a:pPr>
            <a:r>
              <a:rPr sz="1100" b="0"/>
              <a:t>Design mocks, logs, and video demos become first-class inputs.</a:t>
            </a:r>
            <a:endParaRPr sz="1100" b="0"/>
          </a:p>
        </p:txBody>
      </p:sp>
      <p:sp>
        <p:nvSpPr>
          <p:cNvPr id="11" name="AutoShape 11"/>
          <p:cNvSpPr/>
          <p:nvPr/>
        </p:nvSpPr>
        <p:spPr>
          <a:xfrm>
            <a:off x="762000" y="5080000"/>
            <a:ext cx="5207000" cy="1206500"/>
          </a:xfrm>
          <a:prstGeom prst="roundRect">
            <a:avLst>
              <a:gd name="adj" fmla="val 0"/>
            </a:avLst>
          </a:prstGeom>
          <a:solidFill>
            <a:srgbClr val="00704A">
              <a:alpha val="7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270500"/>
            <a:ext cx="355600" cy="355600"/>
          </a:xfrm>
          <a:prstGeom prst="rect">
            <a:avLst/>
          </a:prstGeom>
        </p:spPr>
      </p:pic>
      <p:sp>
        <p:nvSpPr>
          <p:cNvPr id="13" name="AutoShape 13"/>
          <p:cNvSpPr/>
          <p:nvPr/>
        </p:nvSpPr>
        <p:spPr>
          <a:xfrm>
            <a:off x="1460500" y="5207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300" b="1"/>
              <a:t>Tight review loops</a:t>
            </a:r>
            <a:endParaRPr lang="en-US" sz="1100"/>
          </a:p>
          <a:p>
            <a:pPr marL="0" indent="0" algn="l">
              <a:lnSpc>
                <a:spcPct val="108000"/>
              </a:lnSpc>
            </a:pPr>
            <a:r>
              <a:rPr sz="1100" b="0"/>
              <a:t>Models improve via tests &amp; feedback; humans own architecture &amp; risk.</a:t>
            </a:r>
            <a:endParaRPr sz="1100" b="0"/>
          </a:p>
        </p:txBody>
      </p:sp>
      <p:sp>
        <p:nvSpPr>
          <p:cNvPr id="14" name="AutoShape 14"/>
          <p:cNvSpPr/>
          <p:nvPr/>
        </p:nvSpPr>
        <p:spPr>
          <a:xfrm>
            <a:off x="6223000" y="1778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704A"/>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I recommend (team + my ramp-up)</a:t>
            </a:r>
            <a:endParaRPr lang="en-US" sz="1100"/>
          </a:p>
        </p:txBody>
      </p:sp>
      <p:sp>
        <p:nvSpPr>
          <p:cNvPr id="15" name="AutoShape 15"/>
          <p:cNvSpPr/>
          <p:nvPr/>
        </p:nvSpPr>
        <p:spPr>
          <a:xfrm>
            <a:off x="6223000" y="2540000"/>
            <a:ext cx="2540000" cy="1778000"/>
          </a:xfrm>
          <a:prstGeom prst="roundRect">
            <a:avLst>
              <a:gd name="adj" fmla="val 0"/>
            </a:avLst>
          </a:prstGeom>
          <a:solidFill>
            <a:srgbClr val="00704A">
              <a:alpha val="7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2730500"/>
            <a:ext cx="304800" cy="304800"/>
          </a:xfrm>
          <a:prstGeom prst="rect">
            <a:avLst/>
          </a:prstGeom>
        </p:spPr>
      </p:pic>
      <p:sp>
        <p:nvSpPr>
          <p:cNvPr id="17" name="AutoShape 17"/>
          <p:cNvSpPr/>
          <p:nvPr/>
        </p:nvSpPr>
        <p:spPr>
          <a:xfrm>
            <a:off x="6413500" y="31115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200" b="1"/>
              <a:t>Write better briefs</a:t>
            </a:r>
            <a:endParaRPr lang="en-US" sz="1100"/>
          </a:p>
          <a:p>
            <a:pPr marL="0" indent="0" algn="l">
              <a:lnSpc>
                <a:spcPct val="108000"/>
              </a:lnSpc>
            </a:pPr>
            <a:r>
              <a:rPr sz="1000" b="0"/>
              <a:t>Goal, constraints, Definition of Done — before opening the chat.</a:t>
            </a:r>
            <a:endParaRPr sz="1000" b="0"/>
          </a:p>
        </p:txBody>
      </p:sp>
      <p:sp>
        <p:nvSpPr>
          <p:cNvPr id="18" name="AutoShape 18"/>
          <p:cNvSpPr/>
          <p:nvPr/>
        </p:nvSpPr>
        <p:spPr>
          <a:xfrm>
            <a:off x="8890000" y="2540000"/>
            <a:ext cx="2540000" cy="1778000"/>
          </a:xfrm>
          <a:prstGeom prst="roundRect">
            <a:avLst>
              <a:gd name="adj" fmla="val 0"/>
            </a:avLst>
          </a:prstGeom>
          <a:solidFill>
            <a:srgbClr val="00704A">
              <a:alpha val="7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80500" y="2730500"/>
            <a:ext cx="304800" cy="304800"/>
          </a:xfrm>
          <a:prstGeom prst="rect">
            <a:avLst/>
          </a:prstGeom>
        </p:spPr>
      </p:pic>
      <p:sp>
        <p:nvSpPr>
          <p:cNvPr id="20" name="AutoShape 20"/>
          <p:cNvSpPr/>
          <p:nvPr/>
        </p:nvSpPr>
        <p:spPr>
          <a:xfrm>
            <a:off x="9080500" y="31115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200" b="1"/>
              <a:t>Judge with data</a:t>
            </a:r>
            <a:endParaRPr lang="en-US" sz="1100"/>
          </a:p>
          <a:p>
            <a:pPr marL="0" indent="0" algn="l">
              <a:lnSpc>
                <a:spcPct val="108000"/>
              </a:lnSpc>
            </a:pPr>
            <a:r>
              <a:rPr sz="1000" b="0"/>
              <a:t>Track where AI helps (speed, defects) so we pick tools by evidence.</a:t>
            </a:r>
            <a:endParaRPr sz="1000" b="0"/>
          </a:p>
        </p:txBody>
      </p:sp>
      <p:sp>
        <p:nvSpPr>
          <p:cNvPr id="21" name="AutoShape 21"/>
          <p:cNvSpPr/>
          <p:nvPr/>
        </p:nvSpPr>
        <p:spPr>
          <a:xfrm>
            <a:off x="6223000" y="4445000"/>
            <a:ext cx="2540000" cy="1778000"/>
          </a:xfrm>
          <a:prstGeom prst="roundRect">
            <a:avLst>
              <a:gd name="adj" fmla="val 0"/>
            </a:avLst>
          </a:prstGeom>
          <a:solidFill>
            <a:srgbClr val="00704A">
              <a:alpha val="7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4635500"/>
            <a:ext cx="304800" cy="304800"/>
          </a:xfrm>
          <a:prstGeom prst="rect">
            <a:avLst/>
          </a:prstGeom>
        </p:spPr>
      </p:pic>
      <p:sp>
        <p:nvSpPr>
          <p:cNvPr id="23" name="AutoShape 23"/>
          <p:cNvSpPr/>
          <p:nvPr/>
        </p:nvSpPr>
        <p:spPr>
          <a:xfrm>
            <a:off x="6413500" y="50165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200" b="1"/>
              <a:t>Keep human ownership</a:t>
            </a:r>
            <a:endParaRPr lang="en-US" sz="1100"/>
          </a:p>
          <a:p>
            <a:pPr marL="0" indent="0" algn="l">
              <a:lnSpc>
                <a:spcPct val="108000"/>
              </a:lnSpc>
            </a:pPr>
            <a:r>
              <a:rPr sz="1000" b="0"/>
              <a:t>I own design trade-offs, security, and stakeholder communication.</a:t>
            </a:r>
            <a:endParaRPr sz="1000" b="0"/>
          </a:p>
        </p:txBody>
      </p:sp>
      <p:sp>
        <p:nvSpPr>
          <p:cNvPr id="24" name="AutoShape 24"/>
          <p:cNvSpPr/>
          <p:nvPr/>
        </p:nvSpPr>
        <p:spPr>
          <a:xfrm>
            <a:off x="8890000" y="4445000"/>
            <a:ext cx="2540000" cy="1778000"/>
          </a:xfrm>
          <a:prstGeom prst="roundRect">
            <a:avLst>
              <a:gd name="adj" fmla="val 0"/>
            </a:avLst>
          </a:prstGeom>
          <a:solidFill>
            <a:srgbClr val="00704A">
              <a:alpha val="7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80500" y="4635500"/>
            <a:ext cx="304800" cy="304800"/>
          </a:xfrm>
          <a:prstGeom prst="rect">
            <a:avLst/>
          </a:prstGeom>
        </p:spPr>
      </p:pic>
      <p:sp>
        <p:nvSpPr>
          <p:cNvPr id="26" name="AutoShape 26"/>
          <p:cNvSpPr/>
          <p:nvPr/>
        </p:nvSpPr>
        <p:spPr>
          <a:xfrm>
            <a:off x="9080500" y="5016500"/>
            <a:ext cx="215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sz="1200" b="1"/>
              <a:t>Learn in public</a:t>
            </a:r>
            <a:endParaRPr lang="en-US" sz="1100"/>
          </a:p>
          <a:p>
            <a:pPr marL="0" indent="0" algn="l">
              <a:lnSpc>
                <a:spcPct val="108000"/>
              </a:lnSpc>
            </a:pPr>
            <a:r>
              <a:rPr sz="1000" b="0"/>
              <a:t>Share SKILL.md wins weekly; stay current on model releases.</a:t>
            </a:r>
            <a:endParaRPr sz="1000" b="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2667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1F2329"/>
                </a:solidFill>
                <a:latin typeface="Arial" panose="020B0604020202020204"/>
                <a:ea typeface="Arial" panose="020B0604020202020204"/>
                <a:cs typeface="Arial" panose="020B0604020202020204"/>
                <a:sym typeface="Arial" panose="020B0604020202020204"/>
              </a:rPr>
              <a:t>Thank you</a:t>
            </a:r>
            <a:endParaRPr lang="en-US" sz="1100"/>
          </a:p>
        </p:txBody>
      </p:sp>
      <p:sp>
        <p:nvSpPr>
          <p:cNvPr id="3" name="AutoShape 3"/>
          <p:cNvSpPr/>
          <p:nvPr/>
        </p:nvSpPr>
        <p:spPr>
          <a:xfrm>
            <a:off x="5334000" y="4191000"/>
            <a:ext cx="1524000" cy="50800"/>
          </a:xfrm>
          <a:prstGeom prst="roundRect">
            <a:avLst>
              <a:gd name="adj" fmla="val 0"/>
            </a:avLst>
          </a:prstGeom>
          <a:solidFill>
            <a:srgbClr val="00573B">
              <a:alpha val="100000"/>
            </a:srgbClr>
          </a:solidFill>
          <a:ln cap="flat" cmpd="sng">
            <a:solidFill>
              <a:srgbClr val="003E2A">
                <a:alpha val="100000"/>
              </a:srgbClr>
            </a:solidFill>
            <a:prstDash val="solid"/>
            <a:round/>
          </a:ln>
        </p:spPr>
        <p:txBody>
          <a:bodyPr vert="horz" wrap="square" lIns="0" tIns="0" rIns="0" bIns="0" rtlCol="0" anchor="ctr" anchorCtr="0"/>
          <a:lstStyle/>
          <a:p>
            <a:pPr algn="ctr">
              <a:defRPr/>
            </a:pPr>
          </a:p>
        </p:txBody>
      </p:sp>
      <p:sp>
        <p:nvSpPr>
          <p:cNvPr id="4" name="AutoShape 4"/>
          <p:cNvSpPr/>
          <p:nvPr/>
        </p:nvSpPr>
        <p:spPr>
          <a:xfrm>
            <a:off x="0" y="4572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1F2329"/>
                </a:solidFill>
                <a:latin typeface="Arial" panose="020B0604020202020204"/>
                <a:ea typeface="Arial" panose="020B0604020202020204"/>
                <a:cs typeface="Arial" panose="020B0604020202020204"/>
                <a:sym typeface="Arial" panose="020B0604020202020204"/>
              </a:rPr>
              <a:t>Q&amp;A</a:t>
            </a:r>
            <a:endParaRPr lang="en-US" sz="1100"/>
          </a:p>
        </p:txBody>
      </p:sp>
      <p:sp>
        <p:nvSpPr>
          <p:cNvPr id="5" name="AutoShape 5"/>
          <p:cNvSpPr/>
          <p:nvPr/>
        </p:nvSpPr>
        <p:spPr>
          <a:xfrm>
            <a:off x="0" y="5588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505050"/>
                </a:solidFill>
                <a:latin typeface="Arial" panose="020B0604020202020204"/>
                <a:ea typeface="Arial" panose="020B0604020202020204"/>
                <a:cs typeface="Arial" panose="020B0604020202020204"/>
                <a:sym typeface="Arial" panose="020B0604020202020204"/>
              </a:rPr>
              <a:t>Happy to discuss rankings, Skills, or a pilot on our next feature.</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2408</Words>
  <Application>WPS 演示</Application>
  <PresentationFormat/>
  <Paragraphs>98</Paragraphs>
  <Slides>5</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5</vt:i4>
      </vt:variant>
    </vt:vector>
  </HeadingPairs>
  <TitlesOfParts>
    <vt:vector size="14" baseType="lpstr">
      <vt:lpstr>Arial</vt:lpstr>
      <vt:lpstr>SimSun</vt:lpstr>
      <vt:lpstr>Wingdings</vt:lpstr>
      <vt:lpstr>Arial</vt:lpstr>
      <vt:lpstr>Noto Sans SC</vt:lpstr>
      <vt:lpstr>Microsoft YaHei</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WuLiWaLa</cp:lastModifiedBy>
  <cp:revision>1</cp:revision>
  <dcterms:created xsi:type="dcterms:W3CDTF">2026-07-30T10:12:08Z</dcterms:created>
  <dcterms:modified xsi:type="dcterms:W3CDTF">2026-07-30T10:12:08Z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{"Label":"1","ContentProducer":"001191110102MACQD9K64010000","ProduceID":"7667836969024769283","ReservedCode1":"","ContentPropagator":"","PropagateID":"","ReservedCode2":""}</vt:lpwstr>
  </property>
  <property fmtid="{D5CDD505-2E9C-101B-9397-08002B2CF9AE}" pid="3" name="KSOProductBuildVer">
    <vt:lpwstr>2052-12.1.0.26895</vt:lpwstr>
  </property>
  <property fmtid="{D5CDD505-2E9C-101B-9397-08002B2CF9AE}" pid="4" name="ICV">
    <vt:lpwstr>89F26C4824694B77B439AE35B8F56B22_12</vt:lpwstr>
  </property>
</Properties>
</file>